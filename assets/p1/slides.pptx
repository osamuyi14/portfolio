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Arial"/>
              </a:defRPr>
            </a:pPr>
            <a:r>
              <a:rPr lang="en-IE" sz="1100" b="0" i="0" u="none" strike="noStrike">
                <a:solidFill>
                  <a:srgbClr val="12263A"/>
                </a:solidFill>
                <a:latin typeface="Arial"/>
              </a:rPr>
              <a:t>R² Score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Baseline R²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SVR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54.68</c:v>
                </c:pt>
                <c:pt idx="1">
                  <c:v>78.86</c:v>
                </c:pt>
                <c:pt idx="2">
                  <c:v>84.49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A-4CF7-8D1F-20C0DF072F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Optimised R²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SVR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50.3</c:v>
                </c:pt>
                <c:pt idx="1">
                  <c:v>63.72</c:v>
                </c:pt>
                <c:pt idx="2">
                  <c:v>71.17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A-4CF7-8D1F-20C0DF072F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12700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76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Student Exam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Supervised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210312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Osamuyimen Osunde
</a:t>
            </a: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20093878
B9DA109 — Machine Learning and Pattern Recognition
Dublin Business School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77724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1B4F72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492240" y="9144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6,607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12527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0391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2735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6177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Factors (Kaggle)  |  Target: Exam_Score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Dataset &amp; Algorithm Selection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3977640" cy="1353312"/>
          </a:xfrm>
          <a:prstGeom prst="roundRect">
            <a:avLst>
              <a:gd name="adj" fmla="val 6757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94360" y="83210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88136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a student's exam score from measurable factors like study time, attendance, and support systems? An accurate model lets schools flag at-risk students early enough to intervene.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594360" y="227685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32888"/>
            <a:ext cx="3703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Student Performance Factors
6,607 rows × 20 cols → 14 features after removal
</a:t>
            </a: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r>
              <a:rPr lang="en-US" sz="10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Teacher_Quality &amp; Parental_Education_Level imputed
</a:t>
            </a: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Exam_Score  (continuous → regression)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768096"/>
            <a:ext cx="4069080" cy="2862072"/>
          </a:xfrm>
          <a:prstGeom prst="roundRect">
            <a:avLst>
              <a:gd name="adj" fmla="val 3195"/>
            </a:avLst>
          </a:prstGeom>
          <a:solidFill>
            <a:srgbClr val="D6EAF8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754880" y="83210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Decision Tree Regressor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2646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baseline. Tree depth controls complexity — splits the feature space via threshold rules readable by non-technical stakeholders.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07568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Random Forest Regressor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31343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 — builds many trees and averages predictions. Reduces variance and captures feature interactions naturally.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962656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Support Vector Regressor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2004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method. Maps features to higher-dimensional space; robust to outlier students via epsilon-insensitive loss.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spanning interpretable → ensemble → kernel complexity.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Feature Selection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85216" y="83210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Removal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107899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dropped: Gender, School_Type, Physical_Activity, Sleep_Hours, Distance_from_Home. No consistent directional link to exam score. Final: 14 features.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76809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D6EAF8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745736" y="83210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Clean/Missing Value Imputation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5736" y="107899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Teacher_Quality (78 missing) and Parental_Education_Level (90 missing) filled with their column mode. Avoids dropping rows; minimal distortion given small missing 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585216" y="211226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" y="235915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categorical columns mapped to ordered integers — e.g. Low=0, Medium=1, High=2. Preserves natural ranking that one-hot encoding would destroy.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04825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D6EAF8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745736" y="211226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5736" y="235915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14 features. Essential for SVR (distance-based). Prevents large-scale features dominating small-scale 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585216" y="339242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363931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 split (random_state=100): 5,946 train / 661 test. Larger training share chosen given the moderate dataset size of 6,607 rows.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32841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D6EAF8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745736" y="3392424"/>
            <a:ext cx="3721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Balancing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3639312"/>
            <a:ext cx="3721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a continuous value — class imbalance does not apply. Step explicitly skipped as noted in the notebook.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Development, Optimisation &amp; Comparison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54.68%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(tuned)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50.30%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0128" y="768096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3401568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15214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307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01568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(tuned)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1568" y="189280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63.72%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01568" y="22494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768096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2F3F4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6254496" y="8412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 ★  Best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115214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54496" y="1307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54496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(tuned)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54496" y="189280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7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71.17%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22494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C=100, linear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2944368"/>
          <a:ext cx="53949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6035040" y="2944368"/>
            <a:ext cx="2651760" cy="1874520"/>
          </a:xfrm>
          <a:prstGeom prst="roundRect">
            <a:avLst>
              <a:gd name="adj" fmla="val 7317"/>
            </a:avLst>
          </a:prstGeom>
          <a:solidFill>
            <a:srgbClr val="1B4F72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7" name="Text 24"/>
          <p:cNvSpPr/>
          <p:nvPr/>
        </p:nvSpPr>
        <p:spPr>
          <a:xfrm>
            <a:off x="6126480" y="30540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26480" y="32918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SVR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126480" y="36941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84.49% R²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126480" y="407822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kernel  |  test set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Recommendation &amp; References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2697480" cy="1719072"/>
          </a:xfrm>
          <a:prstGeom prst="roundRect">
            <a:avLst>
              <a:gd name="adj" fmla="val 6383"/>
            </a:avLst>
          </a:prstGeom>
          <a:solidFill>
            <a:srgbClr val="1B4F72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54→85%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Range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ranged from 54.68% (DT) to 84.49% (SVR) — a 30-point spread confirming model choice matters.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768096"/>
            <a:ext cx="2697480" cy="1719072"/>
          </a:xfrm>
          <a:prstGeom prst="roundRect">
            <a:avLst>
              <a:gd name="adj" fmla="val 6383"/>
            </a:avLst>
          </a:prstGeom>
          <a:solidFill>
            <a:srgbClr val="117A65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3401568" y="841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SVR Wins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1568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01568" y="1371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leads on every metric. Linear kernel selected by GridSearchCV shows relationships are approximately linear once scaled.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768096"/>
            <a:ext cx="2697480" cy="1719072"/>
          </a:xfrm>
          <a:prstGeom prst="roundRect">
            <a:avLst>
              <a:gd name="adj" fmla="val 6383"/>
            </a:avLst>
          </a:prstGeom>
          <a:solidFill>
            <a:srgbClr val="2471A3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6254496" y="841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54496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54496" y="1371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scores exceed CV scores — the 90/10 split produced an easier test set. SVR's lead holds on both measures.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1C2833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594360" y="267004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2907792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supervised regression models were applied to predict student exam scores from 14 features. After domain-based feature removal, mode imputation, ordinal encoding, and StandardScaler normalisation, SVR emerged as the strongest model at 84.49% test R². All 14 inputs are routinely collected by schools — the model could function as a mid-term early-warning system to flag at-risk students and trigger targeted support before results are finalised.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1C2833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594360" y="378561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0233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Abdel-Hak, A. (2026) Machine Learning and Pattern Recognition.  |  Bergstra &amp; Bengio (2012) Random search for hyper-parameter optimisation, JMLR 13.  |  Breiman (2001) Random Forests, ML 45(1).  |  Cortes &amp; Vapnik (1995) Support-vector networks, ML 20(3).  |  Kaggle (2024) Student Performance Factors [dataset].  |  Pedregosa et al. (2011) Scikit-learn, JMLR 12.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Osamuyimen Osunde  |  20093878  |  B9DA109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Osamuyimen Osunde</dc:creator>
  <cp:lastModifiedBy>Osakpolor Osunde</cp:lastModifiedBy>
  <cp:revision>4</cp:revision>
  <dcterms:created xsi:type="dcterms:W3CDTF">2026-06-27T11:37:38Z</dcterms:created>
  <dcterms:modified xsi:type="dcterms:W3CDTF">2026-06-29T05:53:43Z</dcterms:modified>
</cp:coreProperties>
</file>