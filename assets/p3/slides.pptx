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0.844</c:v>
                </c:pt>
                <c:pt idx="1">
                  <c:v>0.344</c:v>
                </c:pt>
                <c:pt idx="2">
                  <c:v>0.469</c:v>
                </c:pt>
                <c:pt idx="3">
                  <c:v>0.397</c:v>
                </c:pt>
                <c:pt idx="4">
                  <c:v>0.711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0.888</c:v>
                </c:pt>
                <c:pt idx="1">
                  <c:v>0.489</c:v>
                </c:pt>
                <c:pt idx="2">
                  <c:v>0.381</c:v>
                </c:pt>
                <c:pt idx="3">
                  <c:v>0.428</c:v>
                </c:pt>
                <c:pt idx="4">
                  <c:v>0.776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728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Term Deposit Subscription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0EA"/>
                </a:solidFill>
              </a:rPr>
              <a:t>A Decision Tree and Random Forest Comparison on Bank Telemarketing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Osamuyi Osunde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</a:rPr>
              <a:t>MSc in Data Analytics  •  Dublin Business School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</a:rPr>
              <a:t>Programming for Data Analysis (B9DA108) — CA Two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D4E8"/>
                </a:solidFill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15819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The Dataset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4592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UCI Bank Marketing data — 4,119 clients, 21 variables, imbalanced target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D4E8"/>
                </a:solidFill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24963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Preparation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Cleaning, feature engineering, and encoding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D4E8"/>
                </a:solidFill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34107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Exploration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What drives subscription — including contact timing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D4E8"/>
                </a:solidFill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45920" y="43251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Modelling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Decision Tree vs. 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D4E8"/>
                </a:solidFill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52395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Findings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5623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Results, key drivers, and what they mean for the bank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UCI “Bank Marketing” dataset (Moro, Cortez and Rita, 2014) — not sourced from Kaggle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4,119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Client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Original variables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10.9%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Subscribed (“yes”)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Duplicate rows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Four variable groups: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Client attributes — age, job, marital status, education, default/housing/loan 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Current campaign — contact type, month, day of week, number of contacts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Previous campaign — days since last contact, prior outcome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Macroeconomic context — Euribor rate, employment level, price &amp; confidence indices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DF1E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4B1F"/>
                </a:solidFill>
              </a:rPr>
              <a:t>Target is heavily imbalanced: 89.1% did not subscribe vs. only 10.9% who did — this shaped every modelling choice that followed.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Cleaning, feature engineering, and encoding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Cleaning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No duplicate rows found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“unknown” kept as a genuine category (not imputed) — up to 19.5% of values in ‘default’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pdays sentinel (999 = never contacted) affects 3,959 of 4,119 rows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8745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was_contacted_before — binary flag extracted from the pdays sentinel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age_group — six ordinal bands (18-25 … 66+) from raw 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Encoding &amp; Leakage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11 nominal variables → one-hot encoded (job, month, poutcome, etc.)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age_group → ordinal integer encoding (preserves order)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B23A48"/>
                </a:solidFill>
              </a:rPr>
              <a:t>duration dropped — only known after the call ends, so it leaks the outcome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46A"/>
                </a:solidFill>
              </a:rPr>
              <a:t>23 columns → 55 columns after encoding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Subscribes?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Target distribution and key categorical patterns</a:t>
            </a:r>
            <a:endParaRPr lang="en-US" sz="1400" dirty="0"/>
          </a:p>
        </p:txBody>
      </p:sp>
      <p:pic>
        <p:nvPicPr>
          <p:cNvPr id="4" name="Image 0" descr="/home/claude/nb_images/target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291840" cy="2293782"/>
          </a:xfrm>
          <a:prstGeom prst="rect">
            <a:avLst/>
          </a:prstGeom>
        </p:spPr>
      </p:pic>
      <p:pic>
        <p:nvPicPr>
          <p:cNvPr id="5" name="Image 1" descr="/home/claude/nb_images/age_group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06240"/>
            <a:ext cx="3291840" cy="2124291"/>
          </a:xfrm>
          <a:prstGeom prst="rect">
            <a:avLst/>
          </a:prstGeom>
        </p:spPr>
      </p:pic>
      <p:pic>
        <p:nvPicPr>
          <p:cNvPr id="6" name="Image 2" descr="/home/claude/nb_images/cat_vs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417320"/>
            <a:ext cx="7680960" cy="54745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It Work Best?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Subscription rate by month vs. day of week</a:t>
            </a:r>
            <a:endParaRPr lang="en-US" sz="1400" dirty="0"/>
          </a:p>
        </p:txBody>
      </p:sp>
      <p:pic>
        <p:nvPicPr>
          <p:cNvPr id="4" name="Image 0" descr="/home/claude/nb_images/month_day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10515600" cy="37069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4864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54864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March, September, October and December convert far better (36-58%) than the busy summer months (6-13%) — despite receiving fewer calls. Day of week barely moves the needle.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Two tree-based classifiers, compared head-to-head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54480"/>
            <a:ext cx="5120640" cy="137160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</a:rPr>
              <a:t>Decision Tree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Single interpretable tree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926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Max depth =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class_weight = “balanced”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931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Baseline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554480"/>
            <a:ext cx="5120640" cy="137160"/>
          </a:xfrm>
          <a:prstGeom prst="rect">
            <a:avLst/>
          </a:prstGeom>
          <a:solidFill>
            <a:srgbClr val="DD8452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</a:rPr>
              <a:t>Random Forest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3796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Ensemble of 300 trees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Max depth = 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class_weight = “balanced”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931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Averages many decorrelated trees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</a:rPr>
              <a:t>Both trained on a 75/25 stratified train/test split (3,089 / 1,030 rows), preserving the 89/11 class balance in both sets.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</a:rPr>
              <a:t>Evaluated on accuracy, precision, recall, F1-score and ROC-AUC — not accuracy alone, given the class imbalance.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Random Forest outperforms the single Decision Tree on 4 of 5 metrics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63040"/>
            <a:ext cx="3200400" cy="4846320"/>
          </a:xfrm>
          <a:prstGeom prst="roundRect">
            <a:avLst>
              <a:gd name="adj" fmla="val 2286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21031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88.8% accuracy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0.776 ROC-AUC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Fewer false positives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Decision Tree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0" y="3977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84.4% accuracy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Higher recall (0.469)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More false positives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Subscription?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</a:rPr>
              <a:t>Top predictors from the Random Forest</a:t>
            </a:r>
            <a:endParaRPr lang="en-US" sz="1400" dirty="0"/>
          </a:p>
        </p:txBody>
      </p:sp>
      <p:pic>
        <p:nvPicPr>
          <p:cNvPr id="4" name="Image 0" descr="/home/claude/nb_imag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17320"/>
            <a:ext cx="7772400" cy="38582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4406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euribor3m and nr.employed — both macroeconomic indicators — are the two strongest predictors, ahead of any individual customer attribute (~29% of total importance combined).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5819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Timing beats targeting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Economic conditions at time of contact matter more than who is called — euribor3m and nr.employed dominate feature importance.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DD845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249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Ensembles generalise better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108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Random Forest's averaging across 300 trees reduces variance vs. a single Decision Tree, lifting accuracy from 84.4% to 88.8%.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8679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Imbalance is the core challenge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Even with class-weighting, recall on subscribers stays at 0.38-0.47 — a real trade-off for deployment.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411480" cy="411480"/>
          </a:xfrm>
          <a:prstGeom prst="ellipse">
            <a:avLst/>
          </a:prstGeom>
          <a:solidFill>
            <a:srgbClr val="8172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50109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Leakage matters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394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Dropping duration keeps the model realistic for pre-call prediction, at some cost to raw accuracy.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CF7"/>
                </a:solidFill>
              </a:rPr>
              <a:t>Random Forest is the stronger model overall (88.8% accuracy, 0.776 ROC-AUC) but the precision/recall trade-off vs. the Decision Tree should guide the final choice based on business priorities.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CF7"/>
                </a:solidFill>
              </a:rPr>
              <a:t>Campaign timing and macroeconomic context are at least as valuable a lever for the bank as customer targeting.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E6ECF7"/>
                </a:solidFill>
              </a:rPr>
              <a:t>Next steps: threshold tuning or resampling (e.g. SMOTE) to improve recall on the minority “yes” class.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10515600" cy="0"/>
          </a:xfrm>
          <a:prstGeom prst="line">
            <a:avLst/>
          </a:prstGeom>
          <a:noFill/>
          <a:ln w="12700">
            <a:solidFill>
              <a:srgbClr val="3E53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 — 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</a:rPr>
              <a:t>Osamuyi Osunde  •  MSc Data Analytics, Dublin Business School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2026-07-17T19:46:41Z</dcterms:created>
  <dcterms:modified xsi:type="dcterms:W3CDTF">2026-07-17T19:46:41Z</dcterms:modified>
</cp:coreProperties>
</file>